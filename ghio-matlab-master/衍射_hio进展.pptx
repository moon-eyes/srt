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9" r:id="rId5"/>
    <p:sldId id="286" r:id="rId6"/>
    <p:sldId id="285" r:id="rId7"/>
    <p:sldId id="276" r:id="rId8"/>
    <p:sldId id="288" r:id="rId9"/>
    <p:sldId id="277" r:id="rId10"/>
    <p:sldId id="268" r:id="rId11"/>
    <p:sldId id="284" r:id="rId12"/>
    <p:sldId id="266" r:id="rId13"/>
    <p:sldId id="260" r:id="rId14"/>
    <p:sldId id="262" r:id="rId15"/>
    <p:sldId id="263" r:id="rId16"/>
    <p:sldId id="264" r:id="rId17"/>
    <p:sldId id="265" r:id="rId18"/>
    <p:sldId id="261" r:id="rId19"/>
    <p:sldId id="280" r:id="rId20"/>
    <p:sldId id="279" r:id="rId21"/>
    <p:sldId id="278" r:id="rId22"/>
    <p:sldId id="287" r:id="rId23"/>
    <p:sldId id="28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26" autoAdjust="0"/>
  </p:normalViewPr>
  <p:slideViewPr>
    <p:cSldViewPr snapToGrid="0">
      <p:cViewPr varScale="1">
        <p:scale>
          <a:sx n="91" d="100"/>
          <a:sy n="91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8889D-E566-4DBA-A23B-2326546FD5C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4FDA2-A46C-45D9-97E8-8FF66492EA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72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4FDA2-A46C-45D9-97E8-8FF66492EA1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71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4FDA2-A46C-45D9-97E8-8FF66492EA1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952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4FDA2-A46C-45D9-97E8-8FF66492EA1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302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16BCD-2F16-B4EB-C8E0-D63E8C8CA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7327ED-323B-0E37-B55E-2BD643DD0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B3498-09EF-56C6-D9F6-126804DA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724F00-3E07-B682-2F1A-E0909EAA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08164-5B68-F1FA-3D34-C9BC48B8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20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874E6-F0BD-F57E-A95B-FB976B50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461EB-4D4E-0248-5D93-4D08A3888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0DA4C9-61DD-3937-209F-8C7FC780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D5582-5BBA-3ADD-88C7-0A0EB987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B5102D-3C7F-4FBE-0F0D-9F719DD5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13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D0F4E-B398-BD93-4EF6-B99E42C5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23F22D-DE66-1C0B-5426-D8D50A7B9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D678A-B6F5-2C72-A3B0-80ACF2F1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9D060F-AA3C-6883-E40C-324607D8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D27E1D-21E4-DCAB-01E3-F2101CA1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1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9C2D9-3A46-08A0-4052-3B27C4AE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3982D-23DD-25CB-FAFA-5F025B41C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CDEA48-774A-B0A5-6FE8-BBD81CDB1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156B59-195B-756A-66E1-79A9DFE8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AD8436-8359-2505-C694-24B19CB6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02D77F-F0E9-7452-1D42-5E8B4FFB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43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26EBB-72AF-2D48-4312-A19CEE18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CB154C-24ED-238B-B968-56A0D86F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391E79-3CB2-A4CC-78FC-684AA3678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0D55B2-F380-03FD-EDEA-D43D788C7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FB0F37-1F35-36CA-70CE-EF0B6EFC6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1A74E3-41E0-717E-C229-3FD90A1E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58CB84-B03A-F2C6-EC0A-647EC600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BBF707-5FFA-E7B2-544A-F2C305E9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70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A69F7-CD3B-8C36-D676-F25E7615E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F6EC98-3974-4705-7BE3-A3813D23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1442BC-C729-6375-44BE-BBE0EC76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3C7593-CC30-3354-B510-52232B99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04D88D-3035-00BA-A407-01E4C606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841989-4187-E89A-C849-DF598161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381C1A-92E8-84C1-1D61-45011224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34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8645A-BF1C-EB78-FBD9-807EEFE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1FBD4-AF93-BCFD-A360-DD9C9C7E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B5A5A5-8622-6772-507E-369012FA8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195967-6CA5-0310-809A-8D5CD542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60C2C4-CBDB-5892-42FD-AE9FBD71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FA4075-C67E-DD6A-ECC3-21FF4168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85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ACD31-62EE-2363-1E5D-D8A1036C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D960AC-3898-983B-CD5E-4B3C6CEBB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C0D601-9B6E-D1F3-A93A-6AB0455BD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7B4321-605B-C235-80B8-907E221E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B6DF18-5D7D-DA8A-9E64-9221D7CD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4930E1-3BDB-338B-4480-9C223F18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3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0D387-DFF8-1FBE-A6B1-B3B43069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34B94F-4916-7577-E9E3-DC072D227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FFD010-383A-E447-0930-477D7675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B5143-31C2-D9F0-7FF4-F63CDA57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4907A-63C8-5B7E-5670-4A587D97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0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681696-BC9D-FD73-A2B4-7D52D5AE5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F2FA94-D906-5E67-F9E8-84411B571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F63384-879F-2CE6-36C2-1801BB52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258CA-0B14-4BC8-B6DB-9ABEA3B5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9BBB7-B63D-839A-AB29-D734CCDA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51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8F3083-17A9-4D90-BB6E-0A2430E0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EADF15-40B2-8DE3-E6F3-3011AAEC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C1004F-3ADB-5939-01E5-108AE17FE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4F640-4EFA-40BC-AD30-1EEC6E4F7282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7620D-A8C4-9A3E-6B5A-7703BADCE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E7B4B8-6014-919E-AFA0-4E28851FE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90542-34AF-457F-87AB-6E61AB9D8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3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61973A-C16A-A2DF-9A8F-241E5C6A74BE}"/>
              </a:ext>
            </a:extLst>
          </p:cNvPr>
          <p:cNvSpPr txBox="1"/>
          <p:nvPr/>
        </p:nvSpPr>
        <p:spPr>
          <a:xfrm>
            <a:off x="6698312" y="188068"/>
            <a:ext cx="2496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circle.m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95711-B024-9D4C-4EDC-6CB840367280}"/>
              </a:ext>
            </a:extLst>
          </p:cNvPr>
          <p:cNvSpPr txBox="1"/>
          <p:nvPr/>
        </p:nvSpPr>
        <p:spPr>
          <a:xfrm>
            <a:off x="6698312" y="1952016"/>
            <a:ext cx="5195373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自定义圆形二值灰度图；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仅测试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HIO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算法的重建效果，没有利用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shrinkwrap   /  Guided-shrinkwrap</a:t>
            </a:r>
          </a:p>
          <a:p>
            <a:pPr>
              <a:lnSpc>
                <a:spcPct val="150000"/>
              </a:lnSpc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初始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support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为手动创建，略大于设定的圆形光斑图案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A30774-D223-EE20-FD2B-E4EC6D98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6" y="0"/>
            <a:ext cx="6011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4DBEB15-7E69-2D7D-A5E9-2AA86B8A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9"/>
          <a:stretch>
            <a:fillRect/>
          </a:stretch>
        </p:blipFill>
        <p:spPr>
          <a:xfrm>
            <a:off x="138354" y="0"/>
            <a:ext cx="5704727" cy="67652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55B10C9-32B7-4F02-F453-91D120086A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33"/>
          <a:stretch>
            <a:fillRect/>
          </a:stretch>
        </p:blipFill>
        <p:spPr>
          <a:xfrm>
            <a:off x="6214217" y="0"/>
            <a:ext cx="5907932" cy="563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0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FB9DC2-9206-1FC4-9711-59F3F6F4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52"/>
          <a:stretch>
            <a:fillRect/>
          </a:stretch>
        </p:blipFill>
        <p:spPr>
          <a:xfrm>
            <a:off x="6321657" y="511563"/>
            <a:ext cx="5441352" cy="16755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3F163A7-C956-6F2C-25CD-EDEC4AC06D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92"/>
          <a:stretch>
            <a:fillRect/>
          </a:stretch>
        </p:blipFill>
        <p:spPr>
          <a:xfrm>
            <a:off x="209404" y="336918"/>
            <a:ext cx="5660941" cy="19596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83DAEA-84DB-F8FE-54E1-97FF52D055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21" b="11182"/>
          <a:stretch>
            <a:fillRect/>
          </a:stretch>
        </p:blipFill>
        <p:spPr>
          <a:xfrm>
            <a:off x="374637" y="2625055"/>
            <a:ext cx="11442725" cy="409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41CE225-9F64-A371-E2DA-0098D2B652F3}"/>
              </a:ext>
            </a:extLst>
          </p:cNvPr>
          <p:cNvSpPr txBox="1"/>
          <p:nvPr/>
        </p:nvSpPr>
        <p:spPr>
          <a:xfrm>
            <a:off x="161705" y="214748"/>
            <a:ext cx="10693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改进：测试 </a:t>
            </a:r>
            <a:r>
              <a:rPr lang="en-US" altLang="zh-CN" sz="3200" b="1"/>
              <a:t>G-hio2D + Guided shrinkwrap </a:t>
            </a:r>
            <a:r>
              <a:rPr lang="zh-CN" altLang="en-US" sz="2800" b="1"/>
              <a:t>的重建效果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zh-CN" altLang="en-US" sz="2400" b="1"/>
              <a:t>简单起见，还是先从圆形光斑开始</a:t>
            </a:r>
            <a:endParaRPr lang="en-US" altLang="zh-CN" sz="2400" b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3FF722-D0C2-7F8B-B147-9E13C177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03" y="1599743"/>
            <a:ext cx="9781644" cy="484711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9E96013-C7EA-B0D9-3960-37A1F8209941}"/>
              </a:ext>
            </a:extLst>
          </p:cNvPr>
          <p:cNvSpPr/>
          <p:nvPr/>
        </p:nvSpPr>
        <p:spPr>
          <a:xfrm>
            <a:off x="161705" y="2085108"/>
            <a:ext cx="10155381" cy="3034146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299AFA-8879-D230-4B9A-885660754477}"/>
              </a:ext>
            </a:extLst>
          </p:cNvPr>
          <p:cNvSpPr/>
          <p:nvPr/>
        </p:nvSpPr>
        <p:spPr>
          <a:xfrm>
            <a:off x="154734" y="5174671"/>
            <a:ext cx="10155381" cy="1468581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A9A367-B695-19BA-3E1A-E41254F8A83A}"/>
              </a:ext>
            </a:extLst>
          </p:cNvPr>
          <p:cNvSpPr txBox="1"/>
          <p:nvPr/>
        </p:nvSpPr>
        <p:spPr>
          <a:xfrm>
            <a:off x="10612582" y="3340571"/>
            <a:ext cx="1690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原有的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B64EFB-75A3-1EFF-1E07-5FE3CB5DBB26}"/>
              </a:ext>
            </a:extLst>
          </p:cNvPr>
          <p:cNvSpPr txBox="1"/>
          <p:nvPr/>
        </p:nvSpPr>
        <p:spPr>
          <a:xfrm>
            <a:off x="10612582" y="5647351"/>
            <a:ext cx="1424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</a:rPr>
              <a:t>新加</a:t>
            </a:r>
          </a:p>
        </p:txBody>
      </p:sp>
    </p:spTree>
    <p:extLst>
      <p:ext uri="{BB962C8B-B14F-4D97-AF65-F5344CB8AC3E}">
        <p14:creationId xmlns:p14="http://schemas.microsoft.com/office/powerpoint/2010/main" val="359578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3088A-C975-E07C-D3F9-A3857FCB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3" y="0"/>
            <a:ext cx="6075947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507F14-023D-845A-7279-91E1FD141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711" y="0"/>
            <a:ext cx="5902036" cy="20538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3C15A23-37F4-8F41-550C-6B0D6447105D}"/>
              </a:ext>
            </a:extLst>
          </p:cNvPr>
          <p:cNvSpPr txBox="1"/>
          <p:nvPr/>
        </p:nvSpPr>
        <p:spPr>
          <a:xfrm>
            <a:off x="5996283" y="2440907"/>
            <a:ext cx="6296891" cy="4200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/>
              <a:t>自动生成二值圆形图像作为输入（同</a:t>
            </a:r>
            <a:r>
              <a:rPr lang="en-US" altLang="zh-CN" sz="2000" b="1"/>
              <a:t>circle.m</a:t>
            </a:r>
            <a:r>
              <a:rPr lang="zh-CN" altLang="en-US" sz="2000" b="1"/>
              <a:t>）；</a:t>
            </a:r>
            <a:endParaRPr lang="en-US" altLang="zh-CN" sz="2000" b="1"/>
          </a:p>
          <a:p>
            <a:pPr>
              <a:lnSpc>
                <a:spcPct val="150000"/>
              </a:lnSpc>
            </a:pPr>
            <a:endParaRPr lang="en-US" altLang="zh-CN" sz="2000" b="1"/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C00000"/>
                </a:solidFill>
              </a:rPr>
              <a:t>初始支撑由 </a:t>
            </a:r>
            <a:r>
              <a:rPr lang="en-US" altLang="zh-CN" sz="2000" b="1">
                <a:solidFill>
                  <a:srgbClr val="C00000"/>
                </a:solidFill>
              </a:rPr>
              <a:t>gshrinkwrap.m </a:t>
            </a:r>
            <a:r>
              <a:rPr lang="zh-CN" altLang="en-US" sz="2000" b="1">
                <a:solidFill>
                  <a:srgbClr val="C00000"/>
                </a:solidFill>
              </a:rPr>
              <a:t>生成；</a:t>
            </a:r>
            <a:endParaRPr lang="en-US" altLang="zh-CN" sz="2000" b="1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b="1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/>
              <a:t>多副本并行重建 </a:t>
            </a:r>
            <a:r>
              <a:rPr lang="en-US" altLang="zh-CN" sz="2000" b="1"/>
              <a:t>(</a:t>
            </a:r>
            <a:r>
              <a:rPr lang="zh-CN" altLang="en-US" sz="2000" b="1"/>
              <a:t>设置好像只能至多</a:t>
            </a:r>
            <a:r>
              <a:rPr lang="en-US" altLang="zh-CN" sz="2000" b="1"/>
              <a:t>4</a:t>
            </a:r>
            <a:r>
              <a:rPr lang="zh-CN" altLang="en-US" sz="2000" b="1"/>
              <a:t>个同时运行</a:t>
            </a:r>
            <a:r>
              <a:rPr lang="en-US" altLang="zh-CN" sz="2000" b="1"/>
              <a:t>?),</a:t>
            </a:r>
          </a:p>
          <a:p>
            <a:pPr>
              <a:lnSpc>
                <a:spcPct val="150000"/>
              </a:lnSpc>
            </a:pPr>
            <a:r>
              <a:rPr lang="zh-CN" altLang="en-US" sz="2000" b="1"/>
              <a:t>每世代运行完后确定频域误差最小的副本。</a:t>
            </a:r>
            <a:endParaRPr lang="en-US" altLang="zh-CN" sz="2000" b="1"/>
          </a:p>
          <a:p>
            <a:pPr>
              <a:lnSpc>
                <a:spcPct val="150000"/>
              </a:lnSpc>
            </a:pPr>
            <a:r>
              <a:rPr lang="zh-CN" altLang="en-US" sz="2000" b="1"/>
              <a:t>其中每代</a:t>
            </a:r>
            <a:r>
              <a:rPr lang="en-US" altLang="zh-CN" sz="2000" b="1"/>
              <a:t>gshrinkwrap </a:t>
            </a:r>
            <a:r>
              <a:rPr lang="zh-CN" altLang="en-US" sz="2000" b="1"/>
              <a:t>会调用 </a:t>
            </a:r>
            <a:r>
              <a:rPr lang="en-US" altLang="zh-CN" sz="2000" b="1"/>
              <a:t>myalign </a:t>
            </a:r>
            <a:r>
              <a:rPr lang="zh-CN" altLang="en-US" sz="2000" b="1"/>
              <a:t>对齐副本</a:t>
            </a:r>
            <a:endParaRPr lang="en-US" altLang="zh-CN" sz="2000" b="1"/>
          </a:p>
          <a:p>
            <a:pPr>
              <a:lnSpc>
                <a:spcPct val="150000"/>
              </a:lnSpc>
            </a:pPr>
            <a:endParaRPr lang="en-US" altLang="zh-CN" sz="2000" b="1"/>
          </a:p>
          <a:p>
            <a:pPr>
              <a:lnSpc>
                <a:spcPct val="150000"/>
              </a:lnSpc>
            </a:pPr>
            <a:r>
              <a:rPr lang="zh-CN" altLang="en-US" sz="2000" b="1"/>
              <a:t>末代运行完后计算</a:t>
            </a:r>
            <a:r>
              <a:rPr lang="en-US" altLang="zh-CN" sz="2000" b="1"/>
              <a:t>EF</a:t>
            </a:r>
            <a:r>
              <a:rPr lang="zh-CN" altLang="en-US" sz="2000" b="1"/>
              <a:t>和</a:t>
            </a:r>
            <a:r>
              <a:rPr lang="en-US" altLang="zh-CN" sz="2000" b="1"/>
              <a:t>ER</a:t>
            </a:r>
            <a:r>
              <a:rPr lang="zh-CN" altLang="en-US" sz="2000" b="1"/>
              <a:t>误差</a:t>
            </a:r>
          </a:p>
        </p:txBody>
      </p:sp>
    </p:spTree>
    <p:extLst>
      <p:ext uri="{BB962C8B-B14F-4D97-AF65-F5344CB8AC3E}">
        <p14:creationId xmlns:p14="http://schemas.microsoft.com/office/powerpoint/2010/main" val="233262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D61FB00-70E9-68C4-4934-098EAB7AB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13" y="148515"/>
            <a:ext cx="7619533" cy="46382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02996B5-21EA-500E-E660-29C4143AE837}"/>
              </a:ext>
            </a:extLst>
          </p:cNvPr>
          <p:cNvSpPr txBox="1"/>
          <p:nvPr/>
        </p:nvSpPr>
        <p:spPr>
          <a:xfrm>
            <a:off x="653313" y="4919055"/>
            <a:ext cx="8894618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最初的问题：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Guided-SW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迭代未收敛；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最终收敛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支撑严重偏离输入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zh-CN" altLang="en-US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位移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不连续</a:t>
            </a:r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过小）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频率域误差（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ef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）很高</a:t>
            </a:r>
          </a:p>
        </p:txBody>
      </p:sp>
    </p:spTree>
    <p:extLst>
      <p:ext uri="{BB962C8B-B14F-4D97-AF65-F5344CB8AC3E}">
        <p14:creationId xmlns:p14="http://schemas.microsoft.com/office/powerpoint/2010/main" val="417179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D46B67C-5879-175F-FDC2-808328FB5C61}"/>
              </a:ext>
            </a:extLst>
          </p:cNvPr>
          <p:cNvSpPr txBox="1"/>
          <p:nvPr/>
        </p:nvSpPr>
        <p:spPr>
          <a:xfrm>
            <a:off x="339436" y="145473"/>
            <a:ext cx="12115800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采取的调整：</a:t>
            </a:r>
            <a:endParaRPr lang="en-US" altLang="zh-CN" sz="2800" b="1"/>
          </a:p>
          <a:p>
            <a:endParaRPr lang="en-US" altLang="zh-CN" sz="3200" b="1"/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调参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 (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</a:t>
            </a: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hio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迭代数</a:t>
            </a: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——5000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（越大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ef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越低，但和运行时间成正比）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 (GSW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世代数</a:t>
            </a: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——200~300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（其他参数合适时，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基本可以达到合理的较小值）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sigma (Gauss 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模糊初始标准差</a:t>
            </a: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太高太低都不行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cutoff2 (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支撑更新阈值</a:t>
            </a: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调小，防止支撑过度收缩，错误移除部分输入图像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还有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cutoff1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，重建结果对其他参数好像没那么敏感。（其中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beta=0.90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内置无接口，调整了一下使得它可调）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修改原文档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原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gshrinkwrap.m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调用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hio2D.m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函数，改进为调用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ghio2D.m 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修改原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myalign.m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修改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GSW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重建过程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定义了一个新掩膜，跳过圆形中央亮斑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/>
          </a:p>
          <a:p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3476416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DCE58B-67B8-461E-6B7C-0B4E11C9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437273"/>
            <a:ext cx="8963891" cy="299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7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78BC91-05A9-3F61-9B65-9984325B05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09"/>
          <a:stretch>
            <a:fillRect/>
          </a:stretch>
        </p:blipFill>
        <p:spPr>
          <a:xfrm>
            <a:off x="6086985" y="397336"/>
            <a:ext cx="6291869" cy="30316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687CB6-3FAA-3E98-0D0D-57799F7A1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85" y="3515112"/>
            <a:ext cx="6061593" cy="34250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2C7EB00-CA0B-CE14-20BE-9179DFA9A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07" y="3342888"/>
            <a:ext cx="6035259" cy="36542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DD8CC5-665E-08B3-BC56-7DD74206A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39" y="88081"/>
            <a:ext cx="5638606" cy="334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7A1105-AF25-9B68-615C-B15A633025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0"/>
          <a:stretch>
            <a:fillRect/>
          </a:stretch>
        </p:blipFill>
        <p:spPr>
          <a:xfrm>
            <a:off x="0" y="0"/>
            <a:ext cx="7204364" cy="6858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97C799D-594B-83E6-51D1-6C23945DD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140" y="351239"/>
            <a:ext cx="5448675" cy="31885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33F8A3E-8B2E-EE98-449C-64ACA9DD6C7F}"/>
              </a:ext>
            </a:extLst>
          </p:cNvPr>
          <p:cNvSpPr txBox="1"/>
          <p:nvPr/>
        </p:nvSpPr>
        <p:spPr>
          <a:xfrm>
            <a:off x="7252855" y="3815628"/>
            <a:ext cx="4102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最后识别重建位置并对齐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19E40E-4632-B8C5-E541-DF9B8A1270FD}"/>
              </a:ext>
            </a:extLst>
          </p:cNvPr>
          <p:cNvSpPr txBox="1"/>
          <p:nvPr/>
        </p:nvSpPr>
        <p:spPr>
          <a:xfrm>
            <a:off x="7204364" y="4614640"/>
            <a:ext cx="4708102" cy="1892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/>
              <a:t>衍射图样对物体的空间绝对位置不敏感。无论物体在实空间中如何平移，其衍射强度分布（幅度）都是一样的，只有相位会发生线性变化。</a:t>
            </a:r>
          </a:p>
        </p:txBody>
      </p:sp>
    </p:spTree>
    <p:extLst>
      <p:ext uri="{BB962C8B-B14F-4D97-AF65-F5344CB8AC3E}">
        <p14:creationId xmlns:p14="http://schemas.microsoft.com/office/powerpoint/2010/main" val="97043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6BC0C2-F7D1-6B3B-310D-A10875F9C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10" y="39462"/>
            <a:ext cx="11585259" cy="67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4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23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FEF08E-E885-EC55-4745-E50315E41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3" y="2989802"/>
            <a:ext cx="10900852" cy="386819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BD1AC6D-B9E2-3A11-906C-90007B698C96}"/>
              </a:ext>
            </a:extLst>
          </p:cNvPr>
          <p:cNvSpPr txBox="1"/>
          <p:nvPr/>
        </p:nvSpPr>
        <p:spPr>
          <a:xfrm>
            <a:off x="354823" y="293167"/>
            <a:ext cx="9994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对于一般图片，利用</a:t>
            </a:r>
            <a:r>
              <a:rPr lang="en-US" altLang="zh-CN" sz="2800" b="1"/>
              <a:t>HIO</a:t>
            </a:r>
            <a:r>
              <a:rPr lang="zh-CN" altLang="en-US" sz="2800" b="1"/>
              <a:t>方法得不到令人满意的重建</a:t>
            </a:r>
            <a:r>
              <a:rPr lang="en-US" altLang="zh-CN" sz="2800" b="1"/>
              <a:t>……</a:t>
            </a:r>
            <a:endParaRPr lang="zh-CN" altLang="en-US" sz="2800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922BA4-A1E4-16F5-17B9-F42232761CF5}"/>
              </a:ext>
            </a:extLst>
          </p:cNvPr>
          <p:cNvSpPr txBox="1"/>
          <p:nvPr/>
        </p:nvSpPr>
        <p:spPr>
          <a:xfrm>
            <a:off x="403685" y="1160287"/>
            <a:ext cx="49919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初始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support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设置为全图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原彩色照片转为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256*256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4-bit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灰度级图像作为输入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5AF2D0-547A-66CE-8FEF-BEF8D4120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74"/>
          <a:stretch>
            <a:fillRect/>
          </a:stretch>
        </p:blipFill>
        <p:spPr>
          <a:xfrm>
            <a:off x="6274217" y="1442095"/>
            <a:ext cx="5441542" cy="120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79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7CD4BD-1D2F-E9F8-0D30-70B542F2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8720"/>
            <a:ext cx="12192000" cy="38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07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01DE0B-7578-25F8-A7BB-3AC2A0AE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9" y="1504543"/>
            <a:ext cx="4953204" cy="42445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C7A126F-4671-6466-F390-2473DA07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10" y="1877412"/>
            <a:ext cx="6761590" cy="349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51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AFC5A6-929C-4C64-E2BB-D777D198C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0140"/>
            <a:ext cx="12192000" cy="49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4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EE56CD-B8F1-A472-882B-2098225B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3503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A94C6-8043-9086-C59A-69696CB1E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92" y="234179"/>
            <a:ext cx="5881298" cy="31186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088508-260A-30A2-4F7C-E8E7C53F9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503" y="3841814"/>
            <a:ext cx="6394315" cy="268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50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E45C18-1F78-BD08-3C4F-260BCAB41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953" y="0"/>
            <a:ext cx="3936094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3DC78F-AE9F-B7C1-6842-88D6C8D42ACE}"/>
              </a:ext>
            </a:extLst>
          </p:cNvPr>
          <p:cNvSpPr txBox="1"/>
          <p:nvPr/>
        </p:nvSpPr>
        <p:spPr>
          <a:xfrm>
            <a:off x="784697" y="76524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/>
              <a:t>程序逻辑</a:t>
            </a:r>
          </a:p>
        </p:txBody>
      </p:sp>
    </p:spTree>
    <p:extLst>
      <p:ext uri="{BB962C8B-B14F-4D97-AF65-F5344CB8AC3E}">
        <p14:creationId xmlns:p14="http://schemas.microsoft.com/office/powerpoint/2010/main" val="8308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8A3039-73F5-E22A-3E56-5CAAC07BA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18" r="25000"/>
          <a:stretch>
            <a:fillRect/>
          </a:stretch>
        </p:blipFill>
        <p:spPr>
          <a:xfrm>
            <a:off x="443344" y="1004328"/>
            <a:ext cx="5435029" cy="50904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D02407-A6C5-02DE-D0E4-2FBE2D159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2" r="24829"/>
          <a:stretch>
            <a:fillRect/>
          </a:stretch>
        </p:blipFill>
        <p:spPr>
          <a:xfrm>
            <a:off x="6506377" y="1004328"/>
            <a:ext cx="5422842" cy="509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84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FDB00E-08C6-0983-8338-71677930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94" y="0"/>
            <a:ext cx="11416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71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307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078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85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28425</TotalTime>
  <Words>407</Words>
  <Application>Microsoft Office PowerPoint</Application>
  <PresentationFormat>宽屏</PresentationFormat>
  <Paragraphs>49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泽宇 杨</dc:creator>
  <cp:lastModifiedBy>泽宇 杨</cp:lastModifiedBy>
  <cp:revision>9</cp:revision>
  <dcterms:created xsi:type="dcterms:W3CDTF">2025-07-14T13:42:33Z</dcterms:created>
  <dcterms:modified xsi:type="dcterms:W3CDTF">2025-08-04T12:00:29Z</dcterms:modified>
</cp:coreProperties>
</file>